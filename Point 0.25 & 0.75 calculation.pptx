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b0501bcc4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b0501bcc4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13b0501bcc4_4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13b0501bcc4_4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3b0501bcc4_4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3b0501bcc4_4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b="1" i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E(V) </a:t>
            </a:r>
            <a:r>
              <a:rPr b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∑</a:t>
            </a:r>
            <a:r>
              <a:rPr b="1" i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i="1" lang="en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)×</a:t>
            </a:r>
            <a:r>
              <a:rPr b="1" i="1" lang="en" sz="1600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i="1" lang="en">
                <a:solidFill>
                  <a:srgbClr val="11111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3b0501bcc4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3b0501bcc4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3b0501bcc4_4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3b0501bcc4_4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3b0501bcc4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3b0501bcc4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b0501bcc4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3b0501bcc4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 * (1/y1 - 1) + -0.5x2 - 1x3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x1/y1 - x1 = 0.5x2 - x3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x1/y1 = x1 + 0.5x2 - x3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1/y1 = 1 + 0.5x2/x1 - x3/x1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Y1 = 1/ (1 + 0.5x2/x1 - x3/x1)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Y1 = x1 / (x1 + 0.5x2 + x3)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Y2 = 1 - y1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3b0501bcc4_4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3b0501bcc4_4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X1 * (1/y2 - 1) + 0.5x2 - 1x3 = 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x1/y2 - x1 = 0.5x2 - x3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x1/y2 = x1 + 0.5x2 - x3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1/y2 = 1 + 0.5x2/x1 - x3/x1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Y2 = 1/ (1 + 0.5x2/x1 - x3/x1)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Y2 = x1 / (x1 + 0.5x2 + x3)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0.25 &amp; 0.75 calculation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0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</a:t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191750" y="1331350"/>
            <a:ext cx="967500" cy="979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Homestr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Awaystr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600050" y="1556450"/>
            <a:ext cx="1077900" cy="5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467550" y="1570450"/>
            <a:ext cx="1077900" cy="5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7004050" y="1317350"/>
            <a:ext cx="1197600" cy="1453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Points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0.25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0.5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0.75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5400000">
            <a:off x="7198900" y="3038875"/>
            <a:ext cx="807900" cy="5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874150" y="3849600"/>
            <a:ext cx="1489200" cy="9792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/ Odds</a:t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1577448" y="1961950"/>
            <a:ext cx="1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7275" y="1173725"/>
            <a:ext cx="19716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Expected Value (EV)?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93300"/>
            <a:ext cx="8520600" cy="3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expected value (EV) is an anticipated value for an investment at some point in the future.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statistics and probability analysis, the expected value is calculated by multiplying each of the possible outcomes by the likelihood each outcome will occur and then summing all of those values.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calculating expected values, investors can choose the scenario most likely to give the desired outcome.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X be a random variable with a finite number of finite outcomes x1, x2, …, xk occurring with probabilities p1, p2, …, pk respectively.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expectation of X is defined 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rgbClr val="11111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7125" y="4177200"/>
            <a:ext cx="5492975" cy="9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Value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93300"/>
            <a:ext cx="8520600" cy="3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player’s perspective,</a:t>
            </a:r>
            <a:br>
              <a:rPr lang="en"/>
            </a:br>
            <a:r>
              <a:rPr b="1" lang="en"/>
              <a:t>EV = probability * win + (1-probability) * loss</a:t>
            </a:r>
            <a:br>
              <a:rPr b="1" lang="en"/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Value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93300"/>
            <a:ext cx="8520600" cy="39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From player’s perspective,</a:t>
            </a:r>
            <a:br>
              <a:rPr lang="en"/>
            </a:br>
            <a:r>
              <a:rPr b="1" lang="en"/>
              <a:t>EV = probability * win + (1-probability) * loss</a:t>
            </a:r>
            <a:br>
              <a:rPr b="1"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fair market, EV = 0</a:t>
            </a:r>
            <a:br>
              <a:rPr b="1" lang="en"/>
            </a:b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E.g. OU market, probability (0.6, 0.4), euro odds w/o spread (1.67, 2.5)</a:t>
            </a:r>
            <a:br>
              <a:rPr lang="en"/>
            </a:br>
            <a:r>
              <a:rPr lang="en"/>
              <a:t>Over EV = 0.6 * 0.67 + 0.4 * -1 </a:t>
            </a:r>
            <a:br>
              <a:rPr lang="en"/>
            </a:br>
            <a:r>
              <a:rPr b="1" lang="en"/>
              <a:t>Over</a:t>
            </a:r>
            <a:r>
              <a:rPr lang="en"/>
              <a:t> </a:t>
            </a:r>
            <a:r>
              <a:rPr b="1" lang="en"/>
              <a:t>EV = 0</a:t>
            </a:r>
            <a:br>
              <a:rPr b="1" lang="en"/>
            </a:br>
            <a:r>
              <a:rPr lang="en"/>
              <a:t>Under EV = 0.4 * 1.5 + 0.6 * -1</a:t>
            </a:r>
            <a:br>
              <a:rPr lang="en"/>
            </a:br>
            <a:r>
              <a:rPr b="1" lang="en"/>
              <a:t>Under EV = 0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For point 0 and 0.5, there is no problem because the probability and odds have </a:t>
            </a:r>
            <a:r>
              <a:rPr b="1" lang="en"/>
              <a:t>inverse relationship</a:t>
            </a:r>
            <a:br>
              <a:rPr b="1" lang="en"/>
            </a:br>
            <a:endParaRPr b="1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However, the situation for 0.25 and 0.75 is </a:t>
            </a:r>
            <a:r>
              <a:rPr b="1" lang="en"/>
              <a:t>different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801" y="1117075"/>
            <a:ext cx="2070500" cy="172041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.25 Expected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17075"/>
            <a:ext cx="806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scenerios (x1, x2, x3)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X1 = Win (sum of probability &gt; round(point))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X2 = Win half / lose half  (sum of probability = round(point)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X3 = Lose (sum of probability &lt; round(point))</a:t>
            </a:r>
            <a:br>
              <a:rPr lang="en" sz="1500"/>
            </a:br>
            <a:endParaRPr sz="15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</a:t>
            </a:r>
            <a:r>
              <a:rPr b="1" lang="en" sz="1600"/>
              <a:t>EV </a:t>
            </a:r>
            <a:r>
              <a:rPr lang="en" sz="1600"/>
              <a:t>to calculate probability of 50/50 market (y1, y2)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Quiz: Try to write down the EV formula if you place $1 on point 2.25 on Over.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Over probability : y1; Under probability : y2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Over odds : (1/y1)-1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3551" y="1283625"/>
            <a:ext cx="2070500" cy="172041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.25 Expected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17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scenerios (x1, x2, x3)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X1 = Win (sum of probability &gt; round(point))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X2 = Win half / lose half  (sum of probability = round(point)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X3 = Lose (sum of probability &lt; round(point))</a:t>
            </a:r>
            <a:br>
              <a:rPr lang="en" sz="1500"/>
            </a:br>
            <a:endParaRPr sz="15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Use </a:t>
            </a:r>
            <a:r>
              <a:rPr b="1" lang="en" sz="1600"/>
              <a:t>EV </a:t>
            </a:r>
            <a:r>
              <a:rPr lang="en" sz="1600"/>
              <a:t>to calculate probability of 50/50 market (y1, y2)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1" name="Google Shape;101;p19"/>
          <p:cNvSpPr/>
          <p:nvPr/>
        </p:nvSpPr>
        <p:spPr>
          <a:xfrm>
            <a:off x="6783550" y="1527675"/>
            <a:ext cx="2070600" cy="410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6783550" y="2153025"/>
            <a:ext cx="2048700" cy="851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50" y="3137125"/>
            <a:ext cx="4702750" cy="18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311700" y="4435750"/>
            <a:ext cx="2555100" cy="319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553901" y="4897725"/>
            <a:ext cx="174600" cy="1755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2</a:t>
            </a:r>
          </a:p>
        </p:txBody>
      </p:sp>
      <p:sp>
        <p:nvSpPr>
          <p:cNvPr id="106" name="Google Shape;106;p19"/>
          <p:cNvSpPr/>
          <p:nvPr/>
        </p:nvSpPr>
        <p:spPr>
          <a:xfrm>
            <a:off x="1355300" y="4897725"/>
            <a:ext cx="119275" cy="17554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.75 Expected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17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scenerios (x1, x2, x3)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Win (sum of probability &gt; round(point))</a:t>
            </a:r>
            <a:endParaRPr sz="16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Win half / lose half  (sum of probability = round(point)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Lose (sum of probability &lt; round(point))</a:t>
            </a:r>
            <a:br>
              <a:rPr lang="en" sz="1500"/>
            </a:br>
            <a:endParaRPr sz="15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 for y2 first instead of y1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 from lose half perspective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4325" y="885600"/>
            <a:ext cx="2239250" cy="27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6734150" y="1117075"/>
            <a:ext cx="2169300" cy="132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6734150" y="2666950"/>
            <a:ext cx="2169300" cy="1001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25" y="3414276"/>
            <a:ext cx="3266703" cy="100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0"/>
          <p:cNvSpPr/>
          <p:nvPr/>
        </p:nvSpPr>
        <p:spPr>
          <a:xfrm>
            <a:off x="337975" y="3414275"/>
            <a:ext cx="3438000" cy="420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